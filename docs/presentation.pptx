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経営者クローンAIの導入提案。社長の意思決定の仕組みをデジタル化し、現場が「社長ならどう判断するか」を即座に引けるようにする。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課題は3つ。営業の社長待ち、判断基準の属人化、社長の時間不足。いずれも「社長の判断」への依存が原因。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4ステップ。収集→抽出→ストーリー化→対話。ブラックボックスではなく、回答の根拠が常にNotionまで遡れるのが特徴。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実際のシステム出力（デモ実測）。結論→理由→権限の順。根拠タグS6/T2はNotionの実データへのリンク。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採用は小さな会社ほど失敗コストが大きい。社長の採用観で一次評価を揃え、面接の質を上げる。属性による差別はプロンプトで禁止。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即断・採用以外の3つの使い方。壁打ち、会議前ブリーフィング、週次ダイジェスト。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三木谷氏の公開哲学（スピード・仮説検証・経済圏など）でペルソナを作り、全経路を実測。自社では社長のヒアリングシートで置き換える。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セキュリティ4点: ローカル+会社Notion、採用PIIの非保存、Vertex AI移行、会社アカウント統一。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導入は1日。前日ヒアリング→午前セットアップ→午後実データ一周→週内に自動化と本格移行。準備物はすべて作成済み。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価値は3つ: スピード、判断基準の資産化、社長の時間。次のアクションはヒアリング日程の確定から。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2A3575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846320"/>
            <a:ext cx="3474720" cy="3474720"/>
          </a:xfrm>
          <a:prstGeom prst="ellipse">
            <a:avLst/>
          </a:prstGeom>
          <a:solidFill>
            <a:srgbClr val="2A3575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60120"/>
            <a:ext cx="822960" cy="822960"/>
          </a:xfrm>
          <a:prstGeom prst="ellipse">
            <a:avLst/>
          </a:prstGeom>
          <a:solidFill>
            <a:srgbClr val="2A357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1658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196596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経営者クローンAI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822960" y="3200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社長の判断を、全員の武器に。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日常のやり取りから経営者の思考を学習し、営業の即断・採用判断・壁打ちに即答するAI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6035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導入提案資料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小さな会社ほど、社長がボトルネックになる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7498080" cy="1188720"/>
          </a:xfrm>
          <a:prstGeom prst="roundRect">
            <a:avLst>
              <a:gd name="adj" fmla="val 9231"/>
            </a:avLst>
          </a:prstGeom>
          <a:solidFill>
            <a:srgbClr val="EDF3FD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74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0345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174650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営業が「社長待ち」で止まる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828800" y="216712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値引き・特別条件・優先度 … 商談の山場で即答できず、確認待ちの間に機会を逃す。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3017520"/>
            <a:ext cx="7498080" cy="1188720"/>
          </a:xfrm>
          <a:prstGeom prst="roundRect">
            <a:avLst>
              <a:gd name="adj" fmla="val 9231"/>
            </a:avLst>
          </a:prstGeom>
          <a:solidFill>
            <a:srgbClr val="EDF3FD"/>
          </a:solidFill>
          <a:ln/>
        </p:spPr>
      </p:sp>
      <p:sp>
        <p:nvSpPr>
          <p:cNvPr id="9" name="Shape 6"/>
          <p:cNvSpPr/>
          <p:nvPr/>
        </p:nvSpPr>
        <p:spPr>
          <a:xfrm>
            <a:off x="914400" y="32918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" y="34518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316382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判断基準が属人化している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828800" y="358444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基準は社長の頭の中だけ。人によって判断がぶれ、若手ほど自信を持って動けない。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434840"/>
            <a:ext cx="7498080" cy="1188720"/>
          </a:xfrm>
          <a:prstGeom prst="roundRect">
            <a:avLst>
              <a:gd name="adj" fmla="val 9231"/>
            </a:avLst>
          </a:prstGeom>
          <a:solidFill>
            <a:srgbClr val="EDF3FD"/>
          </a:solidFill>
          <a:ln/>
        </p:spPr>
      </p:sp>
      <p:sp>
        <p:nvSpPr>
          <p:cNvPr id="14" name="Shape 10"/>
          <p:cNvSpPr/>
          <p:nvPr/>
        </p:nvSpPr>
        <p:spPr>
          <a:xfrm>
            <a:off x="914400" y="470916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48691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828800" y="4581144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採用・会議に社長の時間が溶ける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1828800" y="500176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一次評価も壁打ちも社長頼み。会議は増え、意思決定のスピードが落ちる。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8549640" y="1600200"/>
            <a:ext cx="3017520" cy="402336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19" name="Text 14"/>
          <p:cNvSpPr/>
          <p:nvPr/>
        </p:nvSpPr>
        <p:spPr>
          <a:xfrm>
            <a:off x="8549640" y="20574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判断待ちは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549640" y="24688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機会損失</a:t>
            </a:r>
            <a:endParaRPr lang="en-US" sz="4000" dirty="0"/>
          </a:p>
        </p:txBody>
      </p:sp>
      <p:sp>
        <p:nvSpPr>
          <p:cNvPr id="21" name="Text 16"/>
          <p:cNvSpPr/>
          <p:nvPr/>
        </p:nvSpPr>
        <p:spPr>
          <a:xfrm>
            <a:off x="8732520" y="3657600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スピードで勝つ会社ほど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「待ち時間」が高くつく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社長の「判断の仕組み」をデジタル化する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日常のやり取りを自動で集め、重要情報だけを蓄積し、社長の思考を再現するAIとして現場に即答します。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EDF3FD"/>
          </a:solidFill>
          <a:ln/>
        </p:spPr>
      </p:sp>
      <p:sp>
        <p:nvSpPr>
          <p:cNvPr id="5" name="Shape 3"/>
          <p:cNvSpPr/>
          <p:nvPr/>
        </p:nvSpPr>
        <p:spPr>
          <a:xfrm>
            <a:off x="1554480" y="23317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8790" y="2526030"/>
            <a:ext cx="388620" cy="3886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2461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集める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70332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録音デバイス・LINE・Slack・メール・会議録を毎日自動収集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29584" y="201168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EDF3FD"/>
          </a:solidFill>
          <a:ln/>
        </p:spPr>
      </p:sp>
      <p:sp>
        <p:nvSpPr>
          <p:cNvPr id="10" name="Shape 7"/>
          <p:cNvSpPr/>
          <p:nvPr/>
        </p:nvSpPr>
        <p:spPr>
          <a:xfrm>
            <a:off x="4443984" y="23317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8294" y="252603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9584" y="32461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選び抜く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3758184" y="370332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AIが雑談を除き、経営に効く重要情報（シグナル）だけを抽出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19088" y="201168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EDF3FD"/>
          </a:solidFill>
          <a:ln/>
        </p:spPr>
      </p:sp>
      <p:sp>
        <p:nvSpPr>
          <p:cNvPr id="15" name="Shape 11"/>
          <p:cNvSpPr/>
          <p:nvPr/>
        </p:nvSpPr>
        <p:spPr>
          <a:xfrm>
            <a:off x="7333488" y="23317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798" y="2526030"/>
            <a:ext cx="388620" cy="3886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19088" y="32461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つなぐ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6647688" y="370332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判断の因果関係をストーリーとして整理し、Notionに蓄積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9308592" y="201168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EDF3FD"/>
          </a:solidFill>
          <a:ln/>
        </p:spPr>
      </p:sp>
      <p:sp>
        <p:nvSpPr>
          <p:cNvPr id="20" name="Shape 15"/>
          <p:cNvSpPr/>
          <p:nvPr/>
        </p:nvSpPr>
        <p:spPr>
          <a:xfrm>
            <a:off x="10222992" y="23317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7302" y="2526030"/>
            <a:ext cx="388620" cy="3886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08592" y="32461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答える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9537192" y="3703320"/>
            <a:ext cx="2148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価値観・判断ルール・実例をもとに「社長ならどうするか」を即答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640080" y="5257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ポイント: </a:t>
            </a:r>
            <a:pPr indent="0" marL="0">
              <a:buNone/>
            </a:pPr>
            <a:r>
              <a:rPr lang="en-US" sz="150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回答には必ず根拠タグ（どの発言・どの過去事例に基づくか）が付き、Notionの元データまで遡れます。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674370"/>
            <a:ext cx="342900" cy="3429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66928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アウトプット① 営業の「即断」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8580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結論から返す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85800" y="203911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「OK / 条件付きOK / NG / 要相談」を1行目に。商談の場で読める長さ。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2971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権限の線引きを明示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85800" y="341071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「あなたの裁量で進めてよいか、社長確認が必要か」を権限委譲ラインに照らして回答。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4343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迷ったら安全側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85800" y="478231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不確実・情報不足なら無理に決めず「社長確認」へ。営業を勝手にリスクに晒さない。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5806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スマホからも利用可（Web UI「即断」タブ / CLI）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943600" y="1463040"/>
            <a:ext cx="5623560" cy="4846320"/>
          </a:xfrm>
          <a:prstGeom prst="roundRect">
            <a:avLst>
              <a:gd name="adj" fmla="val 2642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6263640" y="1691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相談: 「この案件、15%値引きまでOKにしていい？競合はA社」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263640" y="233172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【結論】OK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【理由】スピードが最大の競争優位だ [S6]。競合に勝って
今期中に導入を決めるため15%の値引きは許容する。
将来のクロスセルでLTVを最大化すればいい [S3][T2]。
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【権限】営業の裁量で進めてOK
</a:t>
            </a:r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参照元: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S6: スピード最優先。会議より実行、KPIで検証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T2: 大型先行投資 — 短期赤字を許容し経済圏を拡張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674370"/>
            <a:ext cx="342900" cy="3429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66928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アウトプット② 採用判断の支援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40080" y="1325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履歴書・面接メモ・面接の音声書き起こしを貼るだけで、社長の採用基準に照らした一次評価が返ります。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205740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EDF3FD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18541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合否の傾き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25877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採用寄り / 条件付き / 見送り寄り / 情報不足 ＋ 確信度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09360" y="205740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EDF3FD"/>
          </a:solidFill>
          <a:ln/>
        </p:spPr>
      </p:sp>
      <p:sp>
        <p:nvSpPr>
          <p:cNvPr id="10" name="Text 7"/>
          <p:cNvSpPr/>
          <p:nvPr/>
        </p:nvSpPr>
        <p:spPr>
          <a:xfrm>
            <a:off x="6583680" y="218541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評価点と懸念点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5877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採用基準（カルチャーフィット等）に照らして根拠付きで整理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40080" y="342900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EDF3FD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55701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深掘り質問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14400" y="39593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次の面接で聞くべき質問を3〜5個。実績の再現性を見極める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309360" y="3429000"/>
            <a:ext cx="5394960" cy="1143000"/>
          </a:xfrm>
          <a:prstGeom prst="roundRect">
            <a:avLst>
              <a:gd name="adj" fmla="val 9600"/>
            </a:avLst>
          </a:prstGeom>
          <a:solidFill>
            <a:srgbClr val="EDF3FD"/>
          </a:solidFill>
          <a:ln/>
        </p:spPr>
      </p:sp>
      <p:sp>
        <p:nvSpPr>
          <p:cNvPr id="16" name="Text 13"/>
          <p:cNvSpPr/>
          <p:nvPr/>
        </p:nvSpPr>
        <p:spPr>
          <a:xfrm>
            <a:off x="6583680" y="355701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次アクション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83680" y="39593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リファレンスチェック・追加面接など、具体的な次の一手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40080" y="5029200"/>
            <a:ext cx="10881360" cy="1143000"/>
          </a:xfrm>
          <a:prstGeom prst="roundRect">
            <a:avLst>
              <a:gd name="adj" fmla="val 9600"/>
            </a:avLst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5175504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公正な採用を仕組みで担保　</a:t>
            </a:r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学歴・性別・年齢等の属性では判断しない制約をAIに課し、行動・実績・価値観で評価。最終判断は必ず人が行う支援ツールです。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アウトプット③ 壁打ち・会議準備・週次把握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EDF3FD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19202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1031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834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壁打ち対話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60120" y="33375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ブラウザ/CLIで社長の分身とじっくり議論。会議前の論点整理に。対話ログは学習データとして循環。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960120" y="50292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 UI「壁打ち」タブ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453128" y="160020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EDF3FD"/>
          </a:solidFill>
          <a:ln/>
        </p:spPr>
      </p:sp>
      <p:sp>
        <p:nvSpPr>
          <p:cNvPr id="10" name="Shape 7"/>
          <p:cNvSpPr/>
          <p:nvPr/>
        </p:nvSpPr>
        <p:spPr>
          <a:xfrm>
            <a:off x="4773168" y="19202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10312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73168" y="2834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会議前ブリーフィング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4773168" y="33375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議題を渡すと「私の見解・根拠・想定反論・確認すべき論点」を1枚に。会議の回数と時間を削減。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4773168" y="50292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npm run brief → Markdown / Notion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266176" y="160020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EDF3FD"/>
          </a:solidFill>
          <a:ln/>
        </p:spPr>
      </p:sp>
      <p:sp>
        <p:nvSpPr>
          <p:cNvPr id="16" name="Shape 12"/>
          <p:cNvSpPr/>
          <p:nvPr/>
        </p:nvSpPr>
        <p:spPr>
          <a:xfrm>
            <a:off x="8586216" y="192024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9096" y="21031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86216" y="2834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週次ダイジェスト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586216" y="33375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今週の重要な動き・意思決定・気づきを毎週末に自動要約。社長も自分の思考を資産として振り返れる。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586216" y="50292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毎週日曜に自動生成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すべての回答に根拠タグ [S1][T1] が付き、Notionの元データに1クリックで遡れます。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動作実証済み — 公開情報で「三木谷スタイル」を再現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実在の著名経営者の公開された経営哲学でペルソナを構築し、入力から出力まで全経路を実測検証しました。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74720" cy="18288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7種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データソース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音声・LINE・Slack・メール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会議・文書・カレンダー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0" y="1920240"/>
            <a:ext cx="3474720" cy="18288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0" y="205740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572000" y="288036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アウトプット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即断・採用・壁打ち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ブリーフィング・ダイジェスト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474720" cy="18288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8138160" y="205740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100%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8321040" y="288036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根拠トレーサビリティ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全回答にNotionへの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参照タグ付き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10881360" cy="2011680"/>
          </a:xfrm>
          <a:prstGeom prst="roundRect">
            <a:avLst>
              <a:gd name="adj" fmla="val 5455"/>
            </a:avLst>
          </a:prstGeom>
          <a:solidFill>
            <a:srgbClr val="EDF3FD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2519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検証済みの実出力例（Gemini 実測）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470916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議事録・音声メモの投入 → シグナル7件抽出＋因果ストーリー構築　</a:t>
            </a:r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／　</a:t>
            </a:r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値引き相談 → 「OK・営業裁量」を根拠付きで即答　</a:t>
            </a:r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／　</a:t>
            </a:r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架空候補者の採用評価 → 採用寄り（確信度:高）＋深掘り質問4件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公開情報に基づく再現デモであり、本人・楽天グループ公認ではありません。自社導入時は社長本人のプロファイルに差し替えます。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674370"/>
            <a:ext cx="342900" cy="3429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66928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セキュリティとデータ管理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627632"/>
            <a:ext cx="566928" cy="566928"/>
          </a:xfrm>
          <a:prstGeom prst="ellipse">
            <a:avLst/>
          </a:prstGeom>
          <a:solidFill>
            <a:srgbClr val="EDF3FD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69364"/>
            <a:ext cx="283464" cy="2834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600200" y="155448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会社の管理下で完結</a:t>
            </a:r>
            <a:endParaRPr lang="en-US" sz="1700" dirty="0"/>
          </a:p>
        </p:txBody>
      </p:sp>
      <p:sp>
        <p:nvSpPr>
          <p:cNvPr id="8" name="Text 4"/>
          <p:cNvSpPr/>
          <p:nvPr/>
        </p:nvSpPr>
        <p:spPr>
          <a:xfrm>
            <a:off x="1600200" y="1956816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処理は社内のMacで実行。データはNotion（会社ワークスペース）に保存し、メンバー権限で閲覧制御。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31520" y="2798064"/>
            <a:ext cx="566928" cy="566928"/>
          </a:xfrm>
          <a:prstGeom prst="ellipse">
            <a:avLst/>
          </a:prstGeom>
          <a:solidFill>
            <a:srgbClr val="EDF3FD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" y="2939796"/>
            <a:ext cx="283464" cy="2834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600200" y="272491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候補者情報は学習させない</a:t>
            </a:r>
            <a:endParaRPr lang="en-US" sz="1700" dirty="0"/>
          </a:p>
        </p:txBody>
      </p:sp>
      <p:sp>
        <p:nvSpPr>
          <p:cNvPr id="12" name="Text 7"/>
          <p:cNvSpPr/>
          <p:nvPr/>
        </p:nvSpPr>
        <p:spPr>
          <a:xfrm>
            <a:off x="1600200" y="31272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採用モードの入力（履歴書・面接メモ）はDBに保存せず、他の回答に混入しない設計。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731520" y="3968496"/>
            <a:ext cx="566928" cy="566928"/>
          </a:xfrm>
          <a:prstGeom prst="ellipse">
            <a:avLst/>
          </a:prstGeom>
          <a:solidFill>
            <a:srgbClr val="EDF3FD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4110228"/>
            <a:ext cx="283464" cy="28346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600200" y="389534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AIへのデータの渡し方も選べる</a:t>
            </a:r>
            <a:endParaRPr lang="en-US" sz="1700" dirty="0"/>
          </a:p>
        </p:txBody>
      </p:sp>
      <p:sp>
        <p:nvSpPr>
          <p:cNvPr id="16" name="Text 10"/>
          <p:cNvSpPr/>
          <p:nvPr/>
        </p:nvSpPr>
        <p:spPr>
          <a:xfrm>
            <a:off x="1600200" y="429768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本格運用では Vertex AI（自社GCP）に切替可能 — 入力データはモデル学習に使われず自社クラウド内に留まる。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731520" y="5138928"/>
            <a:ext cx="566928" cy="566928"/>
          </a:xfrm>
          <a:prstGeom prst="ellipse">
            <a:avLst/>
          </a:prstGeom>
          <a:solidFill>
            <a:srgbClr val="EDF3FD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5280660"/>
            <a:ext cx="283464" cy="28346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600200" y="506577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属人化しないアカウント設計</a:t>
            </a:r>
            <a:endParaRPr lang="en-US" sz="1700" dirty="0"/>
          </a:p>
        </p:txBody>
      </p:sp>
      <p:sp>
        <p:nvSpPr>
          <p:cNvPr id="20" name="Text 13"/>
          <p:cNvSpPr/>
          <p:nvPr/>
        </p:nvSpPr>
        <p:spPr>
          <a:xfrm>
            <a:off x="1600200" y="5468112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キー・DB・コードは会社アカウントに統一（LINEのみ個人が必然）。退職や不在でシステムが止まらない。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経営者本人の同意と継続的な協力（録音・データ提供）が前提です。AIの回答は参考情報であり、最終判断は人が行います。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674370"/>
            <a:ext cx="342900" cy="3429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66928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導入プラン — 初日に「実データ一周」まで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70992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932688" y="2203704"/>
            <a:ext cx="41148" cy="56692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161848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前日まで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200400" y="1618488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ヒアリングシートで社長の価値観・判断ルール・権限委譲ライン・採用基準を言語化（60〜90分）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921240" y="1664208"/>
            <a:ext cx="1691640" cy="438912"/>
          </a:xfrm>
          <a:prstGeom prst="roundRect">
            <a:avLst>
              <a:gd name="adj" fmla="val 20833"/>
            </a:avLst>
          </a:prstGeom>
          <a:solidFill>
            <a:srgbClr val="EDF3FD"/>
          </a:solidFill>
          <a:ln/>
        </p:spPr>
      </p:sp>
      <p:sp>
        <p:nvSpPr>
          <p:cNvPr id="11" name="Text 8"/>
          <p:cNvSpPr/>
          <p:nvPr/>
        </p:nvSpPr>
        <p:spPr>
          <a:xfrm>
            <a:off x="9921240" y="1664208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準備済み ✓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31520" y="282549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932688" y="3319272"/>
            <a:ext cx="41148" cy="56692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5" name="Text 12"/>
          <p:cNvSpPr/>
          <p:nvPr/>
        </p:nvSpPr>
        <p:spPr>
          <a:xfrm>
            <a:off x="1463040" y="2734056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 午前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200400" y="2734056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 セットアップ（約30分）→ 環境診断・リハーサルコマンドで全経路を自動チェック → デモ確認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921240" y="2779776"/>
            <a:ext cx="1691640" cy="438912"/>
          </a:xfrm>
          <a:prstGeom prst="roundRect">
            <a:avLst>
              <a:gd name="adj" fmla="val 20833"/>
            </a:avLst>
          </a:prstGeom>
          <a:solidFill>
            <a:srgbClr val="EDF3FD"/>
          </a:solidFill>
          <a:ln/>
        </p:spPr>
      </p:sp>
      <p:sp>
        <p:nvSpPr>
          <p:cNvPr id="18" name="Text 15"/>
          <p:cNvSpPr/>
          <p:nvPr/>
        </p:nvSpPr>
        <p:spPr>
          <a:xfrm>
            <a:off x="9921240" y="277977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Notion DB作成済み ✓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31520" y="394106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32688" y="4434840"/>
            <a:ext cx="41148" cy="56692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19"/>
          <p:cNvSpPr/>
          <p:nvPr/>
        </p:nvSpPr>
        <p:spPr>
          <a:xfrm>
            <a:off x="1463040" y="3849624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 午後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3200400" y="3849624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録音デバイス（Plaud）とLINEから実データを投入 → 取り込み → 実データで即断・壁打ちを体験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9921240" y="3895344"/>
            <a:ext cx="1691640" cy="438912"/>
          </a:xfrm>
          <a:prstGeom prst="roundRect">
            <a:avLst>
              <a:gd name="adj" fmla="val 20833"/>
            </a:avLst>
          </a:prstGeom>
          <a:solidFill>
            <a:srgbClr val="EDF3FD"/>
          </a:solidFill>
          <a:ln/>
        </p:spPr>
      </p:sp>
      <p:sp>
        <p:nvSpPr>
          <p:cNvPr id="25" name="Text 22"/>
          <p:cNvSpPr/>
          <p:nvPr/>
        </p:nvSpPr>
        <p:spPr>
          <a:xfrm>
            <a:off x="9921240" y="3895344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ランブック準備済み ✓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731520" y="505663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5056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1463040" y="4965192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今週中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3200400" y="4965192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日次・週次の自動実行を設定 → Vertex AI・会社アカウントへ段階移行 → 本格運用開始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9921240" y="5010912"/>
            <a:ext cx="1691640" cy="438912"/>
          </a:xfrm>
          <a:prstGeom prst="roundRect">
            <a:avLst>
              <a:gd name="adj" fmla="val 20833"/>
            </a:avLst>
          </a:prstGeom>
          <a:solidFill>
            <a:srgbClr val="EDF3FD"/>
          </a:solidFill>
          <a:ln/>
        </p:spPr>
      </p:sp>
      <p:sp>
        <p:nvSpPr>
          <p:cNvPr id="31" name="Text 28"/>
          <p:cNvSpPr/>
          <p:nvPr/>
        </p:nvSpPr>
        <p:spPr>
          <a:xfrm>
            <a:off x="9921240" y="5010912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手順書準備済み ✓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費用: </a:t>
            </a:r>
            <a:pPr indent="0" marL="0">
              <a:buNone/>
            </a:pPr>
            <a:r>
              <a:rPr lang="en-US" sz="1300" dirty="0">
                <a:solidFill>
                  <a:srgbClr val="1C2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AI利用料は無料枠から開始可能。追加の主要コストは Notion 有料プラン（複数人利用時）と録音デバイス実費のみ。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4480560"/>
            <a:ext cx="3291840" cy="3291840"/>
          </a:xfrm>
          <a:prstGeom prst="ellipse">
            <a:avLst/>
          </a:prstGeom>
          <a:solidFill>
            <a:srgbClr val="2A3575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待たない現場へ。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2A3575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233172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4450" y="2503170"/>
            <a:ext cx="342900" cy="342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32004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意思決定が速くなる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143000" y="37947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営業は商談の場で即断。社長確認は本当に必要なものだけに。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80560" y="20116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2A3575"/>
          </a:solidFill>
          <a:ln/>
        </p:spPr>
      </p:sp>
      <p:sp>
        <p:nvSpPr>
          <p:cNvPr id="10" name="Shape 7"/>
          <p:cNvSpPr/>
          <p:nvPr/>
        </p:nvSpPr>
        <p:spPr>
          <a:xfrm>
            <a:off x="4800600" y="233172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050" y="250317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00600" y="32004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判断基準が資産になる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800600" y="37947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社長の思考・因果関係がNotionに蓄積され、会社の共有財産に。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38160" y="20116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2A3575"/>
          </a:solidFill>
          <a:ln/>
        </p:spPr>
      </p:sp>
      <p:sp>
        <p:nvSpPr>
          <p:cNvPr id="15" name="Shape 11"/>
          <p:cNvSpPr/>
          <p:nvPr/>
        </p:nvSpPr>
        <p:spPr>
          <a:xfrm>
            <a:off x="8458200" y="233172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650" y="250317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58200" y="32004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社長の時間が戻ってくる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58200" y="37947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一次評価・壁打ち・情報整理をAIが肩代わり。社長は本質的な判断に集中。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822960" y="52120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次のアクション　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ヒアリング日程の確定（60〜90分）　② 導入日に実データで体験　③ 1〜2週間の試用で精度を評価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2026-08-04T00:58:03Z</dcterms:created>
  <dcterms:modified xsi:type="dcterms:W3CDTF">2026-08-04T00:58:03Z</dcterms:modified>
</cp:coreProperties>
</file>